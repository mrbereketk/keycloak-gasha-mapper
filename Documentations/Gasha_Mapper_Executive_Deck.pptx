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framing the shift: traditional IAM trusts any valid credential completely. Gasha Mapper re-evaluates trust continuously, using context, not just identity.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 (1) Log in as testuser normally, show LOW risk score, fetch gate-pass logs -&gt; 200 OK. (2) Open DevTools, spoof User-Agent to sqlmap/1.5.8#dev, log in again, show risk flips to HIGH, click fetch -&gt; 403 Forbidden because the Java SPI stripped security_admin before the token was signed.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CAPSTONE PROJECT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Gasha Mapper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517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AI-Driven Context-Aware Zero-Trust Token Mutation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461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Privilege Suppression Using Machine Learning and a Keycloak SPI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977640"/>
            <a:ext cx="36576" cy="8229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3977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takeaway: Transitioning IAM from static role assignment to continuous, real-time risk assessment.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989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Bereket Kiros  (“Bek”)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2819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Academic Advisory Review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2331720"/>
            <a:ext cx="214884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 credentials do not mean legitimate intent.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47088"/>
            <a:ext cx="566928" cy="56692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773936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≠ Legitimate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2084832"/>
            <a:ext cx="598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RBAC grants full access to any valid credential, regardless of the context behind the request.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89504"/>
            <a:ext cx="566928" cy="56692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816352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Exploits Trust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325880" y="3127248"/>
            <a:ext cx="598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 tools (e.g., sqlmap) inherit the same privileges as a human administrator once authenticated.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31920"/>
            <a:ext cx="566928" cy="56692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385876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Continuous Evaluation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1325880" y="4169664"/>
            <a:ext cx="598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scope is fixed at issuance — access rights are never re-assessed for the life of the session.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974336"/>
            <a:ext cx="566928" cy="56692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25880" y="4901184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Privilege Risk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1325880" y="5212080"/>
            <a:ext cx="598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leaked credential grants persistent admin access until someone manually revokes it.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7360920" y="1691640"/>
            <a:ext cx="4251960" cy="461772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6DE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3A8">
                <a:alpha val="18000"/>
              </a:srgbClr>
            </a:outerShdw>
          </a:effectLst>
        </p:spPr>
      </p:sp>
      <p:sp>
        <p:nvSpPr>
          <p:cNvPr id="17" name="Text 11"/>
          <p:cNvSpPr txBox="1"/>
          <p:nvPr/>
        </p:nvSpPr>
        <p:spPr>
          <a:xfrm>
            <a:off x="7635240" y="18745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STOLEN CREDENTIAL BYPASSES STATIC RBAC</a:t>
            </a:r>
            <a:endParaRPr lang="en-US" sz="10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3528" y="2331720"/>
            <a:ext cx="512064" cy="51206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321040" y="2276856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</a:t>
            </a:r>
            <a:endParaRPr lang="en-US" sz="1250" dirty="0"/>
          </a:p>
        </p:txBody>
      </p:sp>
      <p:sp>
        <p:nvSpPr>
          <p:cNvPr id="20" name="Text 13"/>
          <p:cNvSpPr txBox="1"/>
          <p:nvPr/>
        </p:nvSpPr>
        <p:spPr>
          <a:xfrm>
            <a:off x="8321040" y="25603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tool / scripted login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7909560" y="2862072"/>
            <a:ext cx="0" cy="402336"/>
          </a:xfrm>
          <a:prstGeom prst="line">
            <a:avLst/>
          </a:prstGeom>
          <a:noFill/>
          <a:ln w="15875">
            <a:solidFill>
              <a:srgbClr val="9199A6"/>
            </a:solidFill>
            <a:prstDash val="dash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3528" y="3264408"/>
            <a:ext cx="512064" cy="512064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8321040" y="3209544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Credentials</a:t>
            </a:r>
            <a:endParaRPr lang="en-US" sz="1250" dirty="0"/>
          </a:p>
        </p:txBody>
      </p:sp>
      <p:sp>
        <p:nvSpPr>
          <p:cNvPr id="24" name="Text 16"/>
          <p:cNvSpPr txBox="1"/>
          <p:nvPr/>
        </p:nvSpPr>
        <p:spPr>
          <a:xfrm>
            <a:off x="8321040" y="34930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or session is authentic</a:t>
            </a:r>
            <a:endParaRPr lang="en-US" sz="1050" dirty="0"/>
          </a:p>
        </p:txBody>
      </p:sp>
      <p:sp>
        <p:nvSpPr>
          <p:cNvPr id="25" name="Shape 17"/>
          <p:cNvSpPr/>
          <p:nvPr/>
        </p:nvSpPr>
        <p:spPr>
          <a:xfrm>
            <a:off x="7909560" y="3794760"/>
            <a:ext cx="0" cy="402336"/>
          </a:xfrm>
          <a:prstGeom prst="line">
            <a:avLst/>
          </a:prstGeom>
          <a:noFill/>
          <a:ln w="15875">
            <a:solidFill>
              <a:srgbClr val="9199A6"/>
            </a:solidFill>
            <a:prstDash val="dash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3528" y="4197096"/>
            <a:ext cx="512064" cy="512064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8321040" y="414223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IAM (Static RBAC)</a:t>
            </a:r>
            <a:endParaRPr lang="en-US" sz="1250" dirty="0"/>
          </a:p>
        </p:txBody>
      </p:sp>
      <p:sp>
        <p:nvSpPr>
          <p:cNvPr id="28" name="Text 19"/>
          <p:cNvSpPr txBox="1"/>
          <p:nvPr/>
        </p:nvSpPr>
        <p:spPr>
          <a:xfrm>
            <a:off x="8321040" y="442569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Trusts identity only, not context</a:t>
            </a:r>
            <a:endParaRPr lang="en-US" sz="1050" dirty="0"/>
          </a:p>
        </p:txBody>
      </p:sp>
      <p:sp>
        <p:nvSpPr>
          <p:cNvPr id="29" name="Shape 20"/>
          <p:cNvSpPr/>
          <p:nvPr/>
        </p:nvSpPr>
        <p:spPr>
          <a:xfrm>
            <a:off x="7909560" y="4727448"/>
            <a:ext cx="0" cy="402336"/>
          </a:xfrm>
          <a:prstGeom prst="line">
            <a:avLst/>
          </a:prstGeom>
          <a:noFill/>
          <a:ln w="15875">
            <a:solidFill>
              <a:srgbClr val="9199A6"/>
            </a:solidFill>
            <a:prstDash val="dash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53528" y="5129784"/>
            <a:ext cx="512064" cy="512064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8321040" y="507492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Admin Access Granted</a:t>
            </a:r>
            <a:endParaRPr lang="en-US" sz="1250" dirty="0"/>
          </a:p>
        </p:txBody>
      </p:sp>
      <p:sp>
        <p:nvSpPr>
          <p:cNvPr id="32" name="Text 22"/>
          <p:cNvSpPr txBox="1"/>
          <p:nvPr/>
        </p:nvSpPr>
        <p:spPr>
          <a:xfrm>
            <a:off x="8321040" y="535838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security_admin issued, unchecked</a:t>
            </a:r>
            <a:endParaRPr lang="en-US" sz="1050" dirty="0"/>
          </a:p>
        </p:txBody>
      </p:sp>
      <p:sp>
        <p:nvSpPr>
          <p:cNvPr id="33" name="Text 23"/>
          <p:cNvSpPr txBox="1"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1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  <p:sp>
        <p:nvSpPr>
          <p:cNvPr id="34" name="Text 24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91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GASHA MAPPER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request is re-evaluated in real time, not just authenticated once.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Gasha Mapper layers a machine-learning risk engine on top of existing Keycloak RBAC — no rip-and-replace of the identity provider.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166360" cy="3886200"/>
          </a:xfrm>
          <a:prstGeom prst="roundRect">
            <a:avLst>
              <a:gd name="adj" fmla="val 2118"/>
            </a:avLst>
          </a:prstGeom>
          <a:solidFill>
            <a:srgbClr val="FFFFFF"/>
          </a:solidFill>
          <a:ln w="12700">
            <a:solidFill>
              <a:srgbClr val="D6DE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3A8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56032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RBAC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94436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identity &amp; access model</a:t>
            </a:r>
            <a:endParaRPr lang="en-US" sz="11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456432"/>
            <a:ext cx="310896" cy="3108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16736" y="3401568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decided once, at login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114800"/>
            <a:ext cx="310896" cy="31089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16736" y="4059936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valid credential = full trust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773168"/>
            <a:ext cx="310896" cy="31089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16736" y="4718304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behavioral or contextual signal</a:t>
            </a:r>
            <a:endParaRPr lang="en-US" sz="12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431536"/>
            <a:ext cx="310896" cy="31089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16736" y="5376672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Revocation is a manual process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6172200" y="2286000"/>
            <a:ext cx="5166360" cy="3886200"/>
          </a:xfrm>
          <a:prstGeom prst="roundRect">
            <a:avLst>
              <a:gd name="adj" fmla="val 211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6492240" y="256032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Gasha Zero-Trust</a:t>
            </a:r>
            <a:endParaRPr lang="en-US" sz="1900" dirty="0"/>
          </a:p>
        </p:txBody>
      </p:sp>
      <p:sp>
        <p:nvSpPr>
          <p:cNvPr id="18" name="Text 12"/>
          <p:cNvSpPr txBox="1"/>
          <p:nvPr/>
        </p:nvSpPr>
        <p:spPr>
          <a:xfrm>
            <a:off x="6492240" y="294436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Context-aware, continuously scored</a:t>
            </a:r>
            <a:endParaRPr lang="en-US" sz="11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3456432"/>
            <a:ext cx="310896" cy="31089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940296" y="3401568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re-scored on every token request</a:t>
            </a:r>
            <a:endParaRPr lang="en-US" sz="12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4114800"/>
            <a:ext cx="310896" cy="310896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6940296" y="4059936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 evaluates context, not just identity</a:t>
            </a:r>
            <a:endParaRPr lang="en-US" sz="125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4773168"/>
            <a:ext cx="310896" cy="310896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6940296" y="4718304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sessions demoted, not just blocked</a:t>
            </a:r>
            <a:endParaRPr lang="en-US" sz="125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5431536"/>
            <a:ext cx="310896" cy="310896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6940296" y="5376672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users experience zero friction</a:t>
            </a:r>
            <a:endParaRPr lang="en-US" sz="1250" dirty="0"/>
          </a:p>
        </p:txBody>
      </p:sp>
      <p:sp>
        <p:nvSpPr>
          <p:cNvPr id="27" name="Text 17"/>
          <p:cNvSpPr txBox="1"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1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  <p:sp>
        <p:nvSpPr>
          <p:cNvPr id="28" name="Text 18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91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GASHA MAPPER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evaluation happens inline, before the token is ever signed.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78028" y="233172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E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3A8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280" y="2532888"/>
            <a:ext cx="585216" cy="5852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87756" y="3172968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Application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787756" y="344728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Vite SPA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009748" y="3040380"/>
            <a:ext cx="50292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512668" y="233172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E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3A8">
                <a:alpha val="1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5920" y="2532888"/>
            <a:ext cx="585216" cy="5852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22396" y="3172968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IAM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3622396" y="344728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8080 — Token endpoint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5844388" y="3040380"/>
            <a:ext cx="50292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6347308" y="233172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E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3A8">
                <a:alpha val="16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0560" y="2532888"/>
            <a:ext cx="585216" cy="5852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57036" y="3172968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SPI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6457036" y="344728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Intercepts token minting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8679028" y="3040380"/>
            <a:ext cx="50292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9181948" y="233172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E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3A8">
                <a:alpha val="16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5200" y="2532888"/>
            <a:ext cx="585216" cy="58521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291676" y="3172968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ML Engine</a:t>
            </a:r>
            <a:endParaRPr lang="en-US" sz="1250" dirty="0"/>
          </a:p>
        </p:txBody>
      </p:sp>
      <p:sp>
        <p:nvSpPr>
          <p:cNvPr id="22" name="Text 16"/>
          <p:cNvSpPr txBox="1"/>
          <p:nvPr/>
        </p:nvSpPr>
        <p:spPr>
          <a:xfrm>
            <a:off x="9291676" y="344728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8000 — Isolation Forest</a:t>
            </a:r>
            <a:endParaRPr lang="en-US" sz="950" dirty="0"/>
          </a:p>
        </p:txBody>
      </p:sp>
      <p:sp>
        <p:nvSpPr>
          <p:cNvPr id="23" name="Text 17"/>
          <p:cNvSpPr txBox="1"/>
          <p:nvPr/>
        </p:nvSpPr>
        <p:spPr>
          <a:xfrm>
            <a:off x="2826868" y="202082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Login / token request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5661508" y="202082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Intercept before minting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8496148" y="202082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Send request context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4678528" y="4251960"/>
            <a:ext cx="5669280" cy="0"/>
          </a:xfrm>
          <a:prstGeom prst="line">
            <a:avLst/>
          </a:prstGeom>
          <a:noFill/>
          <a:ln w="22225">
            <a:solidFill>
              <a:srgbClr val="B23A2E"/>
            </a:solidFill>
            <a:prstDash val="dash"/>
            <a:headEnd type="triangle"/>
          </a:ln>
        </p:spPr>
      </p:sp>
      <p:sp>
        <p:nvSpPr>
          <p:cNvPr id="27" name="Shape 21"/>
          <p:cNvSpPr/>
          <p:nvPr/>
        </p:nvSpPr>
        <p:spPr>
          <a:xfrm>
            <a:off x="10347808" y="3749040"/>
            <a:ext cx="0" cy="502920"/>
          </a:xfrm>
          <a:prstGeom prst="line">
            <a:avLst/>
          </a:prstGeom>
          <a:noFill/>
          <a:ln w="22225">
            <a:solidFill>
              <a:srgbClr val="B23A2E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678528" y="3749040"/>
            <a:ext cx="0" cy="502920"/>
          </a:xfrm>
          <a:prstGeom prst="line">
            <a:avLst/>
          </a:prstGeom>
          <a:noFill/>
          <a:ln w="22225">
            <a:solidFill>
              <a:srgbClr val="B23A2E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4404208" y="4361688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Return LOW / HIGH risk classification  →  5. Keycloak signs JWT (claims mutated if HIGH)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548640" y="5623560"/>
            <a:ext cx="11091672" cy="685800"/>
          </a:xfrm>
          <a:prstGeom prst="roundRect">
            <a:avLst>
              <a:gd name="adj" fmla="val 9333"/>
            </a:avLst>
          </a:prstGeom>
          <a:solidFill>
            <a:srgbClr val="E7EEFC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822960" y="562356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FastAPI risk engine returns a classification synchronously — Keycloak signs the JWT with or without security_admin based on that single decision.</a:t>
            </a:r>
            <a:endParaRPr lang="en-US" sz="1250" dirty="0"/>
          </a:p>
        </p:txBody>
      </p:sp>
      <p:sp>
        <p:nvSpPr>
          <p:cNvPr id="32" name="Text 26"/>
          <p:cNvSpPr txBox="1"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1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91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GASHA MAPPER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DETECTION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 score, not a blocklist, determines risk classification.</a:t>
            </a:r>
            <a:endParaRPr lang="en-US" sz="2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47088"/>
            <a:ext cx="530352" cy="53035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7830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Isolation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2066544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are isolated in fewer random partitions than normal points — no labeled attack data required.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89504"/>
            <a:ext cx="530352" cy="53035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2825496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Features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1280160" y="310896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request is scored against User-Agent string, request timing, and session interaction patterns.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31920"/>
            <a:ext cx="530352" cy="53035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0160" y="386791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Scoring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1280160" y="4151376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token request receives a fresh anomaly score at evaluation time — not a static rule lookup.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974336"/>
            <a:ext cx="530352" cy="53035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80160" y="491032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Classification</a:t>
            </a:r>
            <a:endParaRPr lang="en-US" sz="1400" dirty="0"/>
          </a:p>
        </p:txBody>
      </p:sp>
      <p:sp>
        <p:nvSpPr>
          <p:cNvPr id="15" name="Text 9"/>
          <p:cNvSpPr txBox="1"/>
          <p:nvPr/>
        </p:nvSpPr>
        <p:spPr>
          <a:xfrm>
            <a:off x="1280160" y="5193792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above the threshold are classified HIGH risk; scores at or below are classified LOW risk.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6903720" y="1783080"/>
            <a:ext cx="4736592" cy="4434840"/>
          </a:xfrm>
          <a:prstGeom prst="roundRect">
            <a:avLst>
              <a:gd name="adj" fmla="val 185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8A93A8">
                <a:alpha val="20000"/>
              </a:srgbClr>
            </a:outerShdw>
          </a:effectLst>
        </p:spPr>
      </p:sp>
      <p:sp>
        <p:nvSpPr>
          <p:cNvPr id="17" name="Text 11"/>
          <p:cNvSpPr txBox="1"/>
          <p:nvPr/>
        </p:nvSpPr>
        <p:spPr>
          <a:xfrm>
            <a:off x="7223760" y="2011680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ANOMALY SCORE</a:t>
            </a:r>
            <a:endParaRPr lang="en-US" sz="1050" dirty="0"/>
          </a:p>
        </p:txBody>
      </p:sp>
      <p:sp>
        <p:nvSpPr>
          <p:cNvPr id="18" name="Text 12"/>
          <p:cNvSpPr txBox="1"/>
          <p:nvPr/>
        </p:nvSpPr>
        <p:spPr>
          <a:xfrm>
            <a:off x="7223760" y="2359152"/>
            <a:ext cx="4096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s(x, n) = 2 ^ ( −E(h(x)) / c(n) )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7223760" y="3063240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E(h(x)) — average path length to isolate observation x</a:t>
            </a:r>
            <a:endParaRPr lang="en-US" sz="1100" dirty="0"/>
          </a:p>
        </p:txBody>
      </p:sp>
      <p:sp>
        <p:nvSpPr>
          <p:cNvPr id="20" name="Text 14"/>
          <p:cNvSpPr txBox="1"/>
          <p:nvPr/>
        </p:nvSpPr>
        <p:spPr>
          <a:xfrm>
            <a:off x="7223760" y="3392424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c(n) — normalization constant for sample size n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7223760" y="3721608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→ 1 indicates anomalous; s ≈ 0.5 indicates normal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7223760" y="4434840"/>
            <a:ext cx="2048256" cy="384048"/>
          </a:xfrm>
          <a:prstGeom prst="rect">
            <a:avLst/>
          </a:prstGeom>
          <a:solidFill>
            <a:srgbClr val="1E7A46"/>
          </a:solidFill>
          <a:ln/>
        </p:spPr>
      </p:sp>
      <p:sp>
        <p:nvSpPr>
          <p:cNvPr id="23" name="Shape 17"/>
          <p:cNvSpPr/>
          <p:nvPr/>
        </p:nvSpPr>
        <p:spPr>
          <a:xfrm>
            <a:off x="9272016" y="4434840"/>
            <a:ext cx="2048256" cy="384048"/>
          </a:xfrm>
          <a:prstGeom prst="rect">
            <a:avLst/>
          </a:prstGeom>
          <a:solidFill>
            <a:srgbClr val="B23A2E"/>
          </a:solidFill>
          <a:ln/>
        </p:spPr>
      </p:sp>
      <p:sp>
        <p:nvSpPr>
          <p:cNvPr id="24" name="Shape 18"/>
          <p:cNvSpPr/>
          <p:nvPr/>
        </p:nvSpPr>
        <p:spPr>
          <a:xfrm>
            <a:off x="9272016" y="4325112"/>
            <a:ext cx="0" cy="603504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8814816" y="40507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 = 0.5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7223760" y="489204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E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TRUSTED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9272016" y="489204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1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SUPPRESSED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7178040" y="51846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D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endParaRPr lang="en-US" sz="950" dirty="0"/>
          </a:p>
        </p:txBody>
      </p:sp>
      <p:sp>
        <p:nvSpPr>
          <p:cNvPr id="29" name="Text 23"/>
          <p:cNvSpPr txBox="1"/>
          <p:nvPr/>
        </p:nvSpPr>
        <p:spPr>
          <a:xfrm>
            <a:off x="10817352" y="51846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7D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endParaRPr lang="en-US" sz="950" dirty="0"/>
          </a:p>
        </p:txBody>
      </p:sp>
      <p:sp>
        <p:nvSpPr>
          <p:cNvPr id="30" name="Text 24"/>
          <p:cNvSpPr txBox="1"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1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91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GASHA MAPPER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MITIGATION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changes the token's contents, not just the request's success.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66360" cy="3246120"/>
          </a:xfrm>
          <a:prstGeom prst="roundRect">
            <a:avLst>
              <a:gd name="adj" fmla="val 2254"/>
            </a:avLst>
          </a:prstGeom>
          <a:solidFill>
            <a:srgbClr val="1D2233"/>
          </a:solidFill>
          <a:ln w="12700">
            <a:solidFill>
              <a:srgbClr val="D6DE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3A8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73936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E7F4E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7393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JWT — LOW RISK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"realm_access": {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1518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"roles": [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9864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"default-roles-...",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8211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"offline_access",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465576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"uma_authorization",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74904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"security_admin"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03250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31596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2200" y="1554480"/>
            <a:ext cx="5166360" cy="3246120"/>
          </a:xfrm>
          <a:prstGeom prst="roundRect">
            <a:avLst>
              <a:gd name="adj" fmla="val 2254"/>
            </a:avLst>
          </a:prstGeom>
          <a:solidFill>
            <a:srgbClr val="1D2233"/>
          </a:solidFill>
          <a:ln w="12700">
            <a:solidFill>
              <a:srgbClr val="D6DEEC"/>
            </a:solidFill>
            <a:prstDash val="solid"/>
          </a:ln>
          <a:effectLst>
            <a:outerShdw sx="100000" sy="100000" kx="0" ky="0" algn="bl" rotWithShape="0" blurRad="76200" dist="25400" dir="5400000">
              <a:srgbClr val="8A93A8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46520" y="1773936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FBEAE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46520" y="177393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MUTATED JWT — HIGH RISK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233172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"realm_access": {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261518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"roles": [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289864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"default-roles-...",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318211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"offline_access",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3465576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"uma_authorization",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374904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trike="sngStrike" dirty="0">
                <a:solidFill>
                  <a:srgbClr val="889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"security_admin"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403250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431596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2" y="3630168"/>
            <a:ext cx="365760" cy="36576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9189720" y="44165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F1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stripped before signing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548640" y="5166360"/>
            <a:ext cx="109728" cy="109728"/>
          </a:xfrm>
          <a:prstGeom prst="oval">
            <a:avLst/>
          </a:prstGeom>
          <a:solidFill>
            <a:srgbClr val="1E2761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04672" y="5047488"/>
            <a:ext cx="4956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response to elevated risk: reject the entire authentication (hard lockout).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126480" y="5166360"/>
            <a:ext cx="109728" cy="109728"/>
          </a:xfrm>
          <a:prstGeom prst="oval">
            <a:avLst/>
          </a:prstGeom>
          <a:solidFill>
            <a:srgbClr val="1E2761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382512" y="5047488"/>
            <a:ext cx="4956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Gasha Mapper response: sign the token, but omit elevated claims (graceful degradation).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548640" y="5824728"/>
            <a:ext cx="109728" cy="109728"/>
          </a:xfrm>
          <a:prstGeom prst="oval">
            <a:avLst/>
          </a:prstGeom>
          <a:solidFill>
            <a:srgbClr val="1E2761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04672" y="5705856"/>
            <a:ext cx="4956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services (Express.js middleware) enforce policy from token claims alone — no extra ML calls.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6126480" y="5824728"/>
            <a:ext cx="109728" cy="109728"/>
          </a:xfrm>
          <a:prstGeom prst="oval">
            <a:avLst/>
          </a:prstGeom>
          <a:solidFill>
            <a:srgbClr val="1E2761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6382512" y="5705856"/>
            <a:ext cx="4956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HIGH-risk sessions retain baseline access; only administrative capability is removed.</a:t>
            </a:r>
            <a:endParaRPr lang="en-US" sz="1150" dirty="0"/>
          </a:p>
        </p:txBody>
      </p:sp>
      <p:sp>
        <p:nvSpPr>
          <p:cNvPr id="36" name="Text 33"/>
          <p:cNvSpPr txBox="1"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1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91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GASHA MAPPER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Campus Gate Pass Portal demonstrates both outcomes on the same account.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78028" y="1783080"/>
            <a:ext cx="246888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6DEEC"/>
            </a:solidFill>
            <a:prstDash val="solid"/>
          </a:ln>
          <a:effectLst>
            <a:outerShdw sx="100000" sy="100000" kx="0" ky="0" algn="bl" rotWithShape="0" blurRad="63500" dist="25400" dir="5400000">
              <a:srgbClr val="8A93A8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620" y="2039112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91260" y="1965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391260" y="22860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 5173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146908" y="2354580"/>
            <a:ext cx="320040" cy="0"/>
          </a:xfrm>
          <a:prstGeom prst="line">
            <a:avLst/>
          </a:prstGeom>
          <a:noFill/>
          <a:ln w="15875">
            <a:solidFill>
              <a:srgbClr val="9199A6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3466948" y="1783080"/>
            <a:ext cx="246888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6DEEC"/>
            </a:solidFill>
            <a:prstDash val="solid"/>
          </a:ln>
          <a:effectLst>
            <a:outerShdw sx="100000" sy="100000" kx="0" ky="0" algn="bl" rotWithShape="0" blurRad="63500" dist="25400" dir="5400000">
              <a:srgbClr val="8A93A8">
                <a:alpha val="1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1540" y="203911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80180" y="1965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API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4180180" y="22860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 3000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935828" y="2354580"/>
            <a:ext cx="320040" cy="0"/>
          </a:xfrm>
          <a:prstGeom prst="line">
            <a:avLst/>
          </a:prstGeom>
          <a:noFill/>
          <a:ln w="15875">
            <a:solidFill>
              <a:srgbClr val="9199A6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6255868" y="1783080"/>
            <a:ext cx="246888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6DEEC"/>
            </a:solidFill>
            <a:prstDash val="solid"/>
          </a:ln>
          <a:effectLst>
            <a:outerShdw sx="100000" sy="100000" kx="0" ky="0" algn="bl" rotWithShape="0" blurRad="63500" dist="25400" dir="5400000">
              <a:srgbClr val="8A93A8">
                <a:alpha val="1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460" y="2039112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69100" y="1965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IAM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6969100" y="22860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 8080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8724748" y="2354580"/>
            <a:ext cx="320040" cy="0"/>
          </a:xfrm>
          <a:prstGeom prst="line">
            <a:avLst/>
          </a:prstGeom>
          <a:noFill/>
          <a:ln w="15875">
            <a:solidFill>
              <a:srgbClr val="9199A6"/>
            </a:solidFill>
            <a:prstDash val="dash"/>
          </a:ln>
        </p:spPr>
      </p:sp>
      <p:sp>
        <p:nvSpPr>
          <p:cNvPr id="19" name="Shape 14"/>
          <p:cNvSpPr/>
          <p:nvPr/>
        </p:nvSpPr>
        <p:spPr>
          <a:xfrm>
            <a:off x="9044788" y="1783080"/>
            <a:ext cx="246888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6DEEC"/>
            </a:solidFill>
            <a:prstDash val="solid"/>
          </a:ln>
          <a:effectLst>
            <a:outerShdw sx="100000" sy="100000" kx="0" ky="0" algn="bl" rotWithShape="0" blurRad="63500" dist="25400" dir="5400000">
              <a:srgbClr val="8A93A8">
                <a:alpha val="15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9380" y="2039112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758020" y="19659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Risk Engine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9758020" y="22860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 8000</a:t>
            </a:r>
            <a:endParaRPr lang="en-US" sz="1050" dirty="0"/>
          </a:p>
        </p:txBody>
      </p:sp>
      <p:sp>
        <p:nvSpPr>
          <p:cNvPr id="23" name="Text 17"/>
          <p:cNvSpPr txBox="1"/>
          <p:nvPr/>
        </p:nvSpPr>
        <p:spPr>
          <a:xfrm>
            <a:off x="678028" y="3035808"/>
            <a:ext cx="10835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91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INTEGRATED SANDBOX ENVIRONMENT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48640" y="3520440"/>
            <a:ext cx="51663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1E7A46"/>
            </a:solidFill>
            <a:prstDash val="solid"/>
          </a:ln>
          <a:effectLst>
            <a:outerShdw sx="100000" sy="100000" kx="0" ky="0" algn="bl" rotWithShape="0" blurRad="63500" dist="25400" dir="5400000">
              <a:srgbClr val="8A93A8">
                <a:alpha val="14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3813048"/>
            <a:ext cx="548640" cy="54864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4023360" y="379476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E7F4EC"/>
          </a:solidFill>
          <a:ln/>
        </p:spPr>
      </p:sp>
      <p:sp>
        <p:nvSpPr>
          <p:cNvPr id="27" name="Text 20"/>
          <p:cNvSpPr txBox="1"/>
          <p:nvPr/>
        </p:nvSpPr>
        <p:spPr>
          <a:xfrm>
            <a:off x="4023360" y="37947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050" dirty="0"/>
          </a:p>
        </p:txBody>
      </p:sp>
      <p:sp>
        <p:nvSpPr>
          <p:cNvPr id="28" name="Text 21"/>
          <p:cNvSpPr txBox="1"/>
          <p:nvPr/>
        </p:nvSpPr>
        <p:spPr>
          <a:xfrm>
            <a:off x="841248" y="4480560"/>
            <a:ext cx="4581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testuser logs in via a standard browser context.</a:t>
            </a:r>
            <a:endParaRPr lang="en-US" sz="1150" dirty="0"/>
          </a:p>
        </p:txBody>
      </p:sp>
      <p:sp>
        <p:nvSpPr>
          <p:cNvPr id="29" name="Text 22"/>
          <p:cNvSpPr txBox="1"/>
          <p:nvPr/>
        </p:nvSpPr>
        <p:spPr>
          <a:xfrm>
            <a:off x="841248" y="4754880"/>
            <a:ext cx="4581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200 OK — gate-pass logs returned.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6172200" y="3520440"/>
            <a:ext cx="51663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B23A2E"/>
            </a:solidFill>
            <a:prstDash val="solid"/>
          </a:ln>
          <a:effectLst>
            <a:outerShdw sx="100000" sy="100000" kx="0" ky="0" algn="bl" rotWithShape="0" blurRad="63500" dist="25400" dir="5400000">
              <a:srgbClr val="8A93A8">
                <a:alpha val="14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4808" y="3813048"/>
            <a:ext cx="548640" cy="548640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9646920" y="379476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FBEAE8"/>
          </a:solidFill>
          <a:ln/>
        </p:spPr>
      </p:sp>
      <p:sp>
        <p:nvSpPr>
          <p:cNvPr id="33" name="Text 25"/>
          <p:cNvSpPr txBox="1"/>
          <p:nvPr/>
        </p:nvSpPr>
        <p:spPr>
          <a:xfrm>
            <a:off x="9646920" y="37947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050" dirty="0"/>
          </a:p>
        </p:txBody>
      </p:sp>
      <p:sp>
        <p:nvSpPr>
          <p:cNvPr id="34" name="Text 26"/>
          <p:cNvSpPr txBox="1"/>
          <p:nvPr/>
        </p:nvSpPr>
        <p:spPr>
          <a:xfrm>
            <a:off x="6464808" y="4480560"/>
            <a:ext cx="4581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credentials replayed with User-Agent spoofed to sqlmap.</a:t>
            </a:r>
            <a:endParaRPr lang="en-US" sz="1150" dirty="0"/>
          </a:p>
        </p:txBody>
      </p:sp>
      <p:sp>
        <p:nvSpPr>
          <p:cNvPr id="35" name="Text 27"/>
          <p:cNvSpPr txBox="1"/>
          <p:nvPr/>
        </p:nvSpPr>
        <p:spPr>
          <a:xfrm>
            <a:off x="6464808" y="4754880"/>
            <a:ext cx="4581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403 Forbidden — identical request, same account.</a:t>
            </a:r>
            <a:endParaRPr lang="en-US" sz="1150" dirty="0"/>
          </a:p>
        </p:txBody>
      </p:sp>
      <p:sp>
        <p:nvSpPr>
          <p:cNvPr id="36" name="Text 28"/>
          <p:cNvSpPr txBox="1"/>
          <p:nvPr/>
        </p:nvSpPr>
        <p:spPr>
          <a:xfrm>
            <a:off x="548640" y="550468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changes between scenarios — only the request context differs.</a:t>
            </a:r>
            <a:endParaRPr lang="en-US" sz="1250" dirty="0"/>
          </a:p>
        </p:txBody>
      </p:sp>
      <p:sp>
        <p:nvSpPr>
          <p:cNvPr id="37" name="Text 29"/>
          <p:cNvSpPr txBox="1"/>
          <p:nvPr/>
        </p:nvSpPr>
        <p:spPr>
          <a:xfrm>
            <a:off x="111858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1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91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GASHA MAPPER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trust doesn't scale — contextual risk assessment does.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48840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70432" y="209397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enforcement applied at the token layer — no downstream service needs direct ML integration.</a:t>
            </a:r>
            <a:endParaRPr lang="en-US" sz="13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26080"/>
            <a:ext cx="402336" cy="4023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70432" y="287121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Validated: real-time risk scoring, dynamic claim suppression, and hardened OIDC endpoints (/userinfo).</a:t>
            </a:r>
            <a:endParaRPr lang="en-US" sz="13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03320"/>
            <a:ext cx="402336" cy="40233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170432" y="364845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limitations: single-model scope (Isolation Forest only), synthetic training data, pre-production traffic.</a:t>
            </a:r>
            <a:endParaRPr lang="en-US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480560"/>
            <a:ext cx="402336" cy="40233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170432" y="442569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expanded feature set, production-scale evaluation, false-positive-rate benchmarking.</a:t>
            </a:r>
            <a:endParaRPr lang="en-US" sz="1350" dirty="0"/>
          </a:p>
        </p:txBody>
      </p:sp>
      <p:sp>
        <p:nvSpPr>
          <p:cNvPr id="12" name="Shape 6"/>
          <p:cNvSpPr/>
          <p:nvPr/>
        </p:nvSpPr>
        <p:spPr>
          <a:xfrm>
            <a:off x="548640" y="5440680"/>
            <a:ext cx="11091672" cy="0"/>
          </a:xfrm>
          <a:prstGeom prst="line">
            <a:avLst/>
          </a:prstGeom>
          <a:noFill/>
          <a:ln w="12700">
            <a:solidFill>
              <a:srgbClr val="3A4380"/>
            </a:solidFill>
            <a:prstDash val="solid"/>
          </a:ln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669280"/>
            <a:ext cx="777240" cy="77724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508760" y="574243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15" name="Text 8"/>
          <p:cNvSpPr txBox="1"/>
          <p:nvPr/>
        </p:nvSpPr>
        <p:spPr>
          <a:xfrm>
            <a:off x="1508760" y="61447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Bereket Kiros (“Bek”)  —  Gasha Mapper</a:t>
            </a:r>
            <a:endParaRPr lang="en-US" sz="12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4080" y="5349240"/>
            <a:ext cx="1691640" cy="1691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2026-09-01T19:41:08Z</dcterms:created>
  <dcterms:modified xsi:type="dcterms:W3CDTF">2026-09-01T19:41:08Z</dcterms:modified>
</cp:coreProperties>
</file>